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Lora"/>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Lora-regular.fntdata"/><Relationship Id="rId14" Type="http://schemas.openxmlformats.org/officeDocument/2006/relationships/slide" Target="slides/slide8.xml"/><Relationship Id="rId17" Type="http://schemas.openxmlformats.org/officeDocument/2006/relationships/font" Target="fonts/Lora-italic.fntdata"/><Relationship Id="rId16" Type="http://schemas.openxmlformats.org/officeDocument/2006/relationships/font" Target="fonts/Lora-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font" Target="fonts/Lora-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3b9e6e68d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a3b9e6e68d_1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3b9e6e68d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a3b9e6e68d_1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3b9e6e68d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a3b9e6e68d_1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3b9e6e68d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a3b9e6e68d_1_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3b9e6e68d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a3b9e6e68d_1_9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3b9e6e68d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a3b9e6e68d_1_1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3b9e6e68d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a3b9e6e68d_1_1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3b9e6e68d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a3b9e6e68d_1_1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59" name="Google Shape;59;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5"/>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1" name="Google Shape;71;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7" name="Google Shape;77;p17"/>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8" name="Google Shape;78;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4" name="Google Shape;84;p1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5" name="Google Shape;85;p18"/>
          <p:cNvSpPr txBox="1"/>
          <p:nvPr>
            <p:ph idx="3" type="body"/>
          </p:nvPr>
        </p:nvSpPr>
        <p:spPr>
          <a:xfrm>
            <a:off x="4645025"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6" name="Google Shape;86;p18"/>
          <p:cNvSpPr txBox="1"/>
          <p:nvPr>
            <p:ph idx="4" type="body"/>
          </p:nvPr>
        </p:nvSpPr>
        <p:spPr>
          <a:xfrm>
            <a:off x="4645025"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7" name="Google Shape;87;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076325"/>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459581"/>
            <a:ext cx="5486400" cy="3086100"/>
          </a:xfrm>
          <a:prstGeom prst="rect">
            <a:avLst/>
          </a:prstGeom>
          <a:noFill/>
          <a:ln>
            <a:noFill/>
          </a:ln>
        </p:spPr>
      </p:sp>
      <p:sp>
        <p:nvSpPr>
          <p:cNvPr id="109" name="Google Shape;109;p22"/>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463778" y="1371600"/>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1272778" y="-609600"/>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28" name="Shape 128"/>
        <p:cNvGrpSpPr/>
        <p:nvPr/>
      </p:nvGrpSpPr>
      <p:grpSpPr>
        <a:xfrm>
          <a:off x="0" y="0"/>
          <a:ext cx="0" cy="0"/>
          <a:chOff x="0" y="0"/>
          <a:chExt cx="0" cy="0"/>
        </a:xfrm>
      </p:grpSpPr>
      <p:sp>
        <p:nvSpPr>
          <p:cNvPr id="129" name="Google Shape;129;p25"/>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libri"/>
              <a:buNone/>
            </a:pPr>
            <a:r>
              <a:rPr lang="en">
                <a:solidFill>
                  <a:srgbClr val="FFFFFF"/>
                </a:solidFill>
                <a:latin typeface="Lora"/>
                <a:ea typeface="Lora"/>
                <a:cs typeface="Lora"/>
                <a:sym typeface="Lora"/>
              </a:rPr>
              <a:t>Designing Our Company Network</a:t>
            </a:r>
            <a:endParaRPr>
              <a:latin typeface="Lora"/>
              <a:ea typeface="Lora"/>
              <a:cs typeface="Lora"/>
              <a:sym typeface="Lora"/>
            </a:endParaRPr>
          </a:p>
        </p:txBody>
      </p:sp>
      <p:sp>
        <p:nvSpPr>
          <p:cNvPr id="130" name="Google Shape;130;p25"/>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D2D2D2"/>
              </a:buClr>
              <a:buSzPts val="3200"/>
              <a:buNone/>
            </a:pPr>
            <a:r>
              <a:rPr lang="en">
                <a:solidFill>
                  <a:srgbClr val="D2D2D2"/>
                </a:solidFill>
                <a:latin typeface="Lora"/>
                <a:ea typeface="Lora"/>
                <a:cs typeface="Lora"/>
                <a:sym typeface="Lora"/>
              </a:rPr>
              <a:t>Network Security Overview</a:t>
            </a:r>
            <a:endParaRPr>
              <a:latin typeface="Lora"/>
              <a:ea typeface="Lora"/>
              <a:cs typeface="Lora"/>
              <a:sym typeface="Lora"/>
            </a:endParaRPr>
          </a:p>
          <a:p>
            <a:pPr indent="0" lvl="0" marL="0" rtl="0" algn="ctr">
              <a:spcBef>
                <a:spcPts val="640"/>
              </a:spcBef>
              <a:spcAft>
                <a:spcPts val="0"/>
              </a:spcAft>
              <a:buClr>
                <a:srgbClr val="888888"/>
              </a:buClr>
              <a:buSzPts val="3200"/>
              <a:buNone/>
            </a:pPr>
            <a:r>
              <a:rPr lang="en">
                <a:latin typeface="Lora"/>
                <a:ea typeface="Lora"/>
                <a:cs typeface="Lora"/>
                <a:sym typeface="Lora"/>
              </a:rPr>
              <a:t>By: Alhawra Abumouzah</a:t>
            </a:r>
            <a:endParaRPr>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34" name="Shape 134"/>
        <p:cNvGrpSpPr/>
        <p:nvPr/>
      </p:nvGrpSpPr>
      <p:grpSpPr>
        <a:xfrm>
          <a:off x="0" y="0"/>
          <a:ext cx="0" cy="0"/>
          <a:chOff x="0" y="0"/>
          <a:chExt cx="0" cy="0"/>
        </a:xfrm>
      </p:grpSpPr>
      <p:sp>
        <p:nvSpPr>
          <p:cNvPr id="135" name="Google Shape;135;p26"/>
          <p:cNvSpPr txBox="1"/>
          <p:nvPr>
            <p:ph type="title"/>
          </p:nvPr>
        </p:nvSpPr>
        <p:spPr>
          <a:xfrm>
            <a:off x="457200" y="205975"/>
            <a:ext cx="83277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libri"/>
              <a:buNone/>
            </a:pPr>
            <a:r>
              <a:rPr lang="en" sz="4000">
                <a:solidFill>
                  <a:srgbClr val="FFFFFF"/>
                </a:solidFill>
                <a:latin typeface="Lora"/>
                <a:ea typeface="Lora"/>
                <a:cs typeface="Lora"/>
                <a:sym typeface="Lora"/>
              </a:rPr>
              <a:t>Introduction</a:t>
            </a:r>
            <a:endParaRPr sz="4000">
              <a:latin typeface="Lora"/>
              <a:ea typeface="Lora"/>
              <a:cs typeface="Lora"/>
              <a:sym typeface="Lora"/>
            </a:endParaRPr>
          </a:p>
        </p:txBody>
      </p:sp>
      <p:sp>
        <p:nvSpPr>
          <p:cNvPr id="136" name="Google Shape;136;p26"/>
          <p:cNvSpPr txBox="1"/>
          <p:nvPr>
            <p:ph idx="1" type="body"/>
          </p:nvPr>
        </p:nvSpPr>
        <p:spPr>
          <a:xfrm>
            <a:off x="457200" y="1302750"/>
            <a:ext cx="4209900" cy="3394500"/>
          </a:xfrm>
          <a:prstGeom prst="rect">
            <a:avLst/>
          </a:prstGeom>
          <a:noFill/>
          <a:ln>
            <a:noFill/>
          </a:ln>
        </p:spPr>
        <p:txBody>
          <a:bodyPr anchorCtr="0" anchor="t" bIns="45700" lIns="91425" spcFirstLastPara="1" rIns="91425" wrap="square" tIns="45700">
            <a:normAutofit/>
          </a:bodyPr>
          <a:lstStyle/>
          <a:p>
            <a:pPr indent="0" lvl="0" marL="342900" rtl="0" algn="l">
              <a:lnSpc>
                <a:spcPct val="115000"/>
              </a:lnSpc>
              <a:spcBef>
                <a:spcPts val="0"/>
              </a:spcBef>
              <a:spcAft>
                <a:spcPts val="0"/>
              </a:spcAft>
              <a:buNone/>
            </a:pPr>
            <a:r>
              <a:rPr lang="en" sz="1800">
                <a:solidFill>
                  <a:schemeClr val="lt1"/>
                </a:solidFill>
                <a:latin typeface="Lora"/>
                <a:ea typeface="Lora"/>
                <a:cs typeface="Lora"/>
                <a:sym typeface="Lora"/>
              </a:rPr>
              <a:t>As the CISO, I am presenting a secure network design for our online retail business, focusing on key components and how to protect them from threats.</a:t>
            </a:r>
            <a:endParaRPr sz="1800">
              <a:solidFill>
                <a:schemeClr val="lt1"/>
              </a:solidFill>
              <a:latin typeface="Lora"/>
              <a:ea typeface="Lora"/>
              <a:cs typeface="Lora"/>
              <a:sym typeface="Lora"/>
            </a:endParaRPr>
          </a:p>
          <a:p>
            <a:pPr indent="0" lvl="0" marL="342900" rtl="0" algn="l">
              <a:spcBef>
                <a:spcPts val="1200"/>
              </a:spcBef>
              <a:spcAft>
                <a:spcPts val="0"/>
              </a:spcAft>
              <a:buNone/>
            </a:pPr>
            <a:r>
              <a:t/>
            </a:r>
            <a:endParaRPr sz="2000">
              <a:solidFill>
                <a:srgbClr val="DCDCF0"/>
              </a:solidFill>
            </a:endParaRPr>
          </a:p>
        </p:txBody>
      </p:sp>
      <p:pic>
        <p:nvPicPr>
          <p:cNvPr descr="blue geometric  shape abstract technology background (Provided by Getty Images)" id="137" name="Google Shape;137;p26"/>
          <p:cNvPicPr preferRelativeResize="0"/>
          <p:nvPr/>
        </p:nvPicPr>
        <p:blipFill>
          <a:blip r:embed="rId3">
            <a:alphaModFix/>
          </a:blip>
          <a:stretch>
            <a:fillRect/>
          </a:stretch>
        </p:blipFill>
        <p:spPr>
          <a:xfrm>
            <a:off x="4715873" y="1302750"/>
            <a:ext cx="3988500" cy="33224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41" name="Shape 141"/>
        <p:cNvGrpSpPr/>
        <p:nvPr/>
      </p:nvGrpSpPr>
      <p:grpSpPr>
        <a:xfrm>
          <a:off x="0" y="0"/>
          <a:ext cx="0" cy="0"/>
          <a:chOff x="0" y="0"/>
          <a:chExt cx="0" cy="0"/>
        </a:xfrm>
      </p:grpSpPr>
      <p:sp>
        <p:nvSpPr>
          <p:cNvPr id="142" name="Google Shape;142;p27"/>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libri"/>
              <a:buNone/>
            </a:pPr>
            <a:r>
              <a:rPr lang="en">
                <a:solidFill>
                  <a:srgbClr val="FFFFFF"/>
                </a:solidFill>
                <a:latin typeface="Lora"/>
                <a:ea typeface="Lora"/>
                <a:cs typeface="Lora"/>
                <a:sym typeface="Lora"/>
              </a:rPr>
              <a:t>DHCP and Switch Hardware</a:t>
            </a:r>
            <a:endParaRPr>
              <a:latin typeface="Lora"/>
              <a:ea typeface="Lora"/>
              <a:cs typeface="Lora"/>
              <a:sym typeface="Lora"/>
            </a:endParaRPr>
          </a:p>
        </p:txBody>
      </p:sp>
      <p:sp>
        <p:nvSpPr>
          <p:cNvPr id="143" name="Google Shape;143;p27"/>
          <p:cNvSpPr txBox="1"/>
          <p:nvPr>
            <p:ph idx="1" type="body"/>
          </p:nvPr>
        </p:nvSpPr>
        <p:spPr>
          <a:xfrm>
            <a:off x="457200" y="1200150"/>
            <a:ext cx="4415100" cy="33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DCDCF0"/>
              </a:buClr>
              <a:buSzPts val="2000"/>
              <a:buFont typeface="Lora"/>
              <a:buChar char="•"/>
            </a:pPr>
            <a:r>
              <a:rPr lang="en" sz="2000">
                <a:solidFill>
                  <a:srgbClr val="DCDCF0"/>
                </a:solidFill>
                <a:latin typeface="Lora"/>
                <a:ea typeface="Lora"/>
                <a:cs typeface="Lora"/>
                <a:sym typeface="Lora"/>
              </a:rPr>
              <a:t>DHCP assigns IP addresses automatically; switches connect internal devices.</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Threats: Rogue DHCP servers, unauthorized devices.</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Hardening: DHCP snooping, switch port security.</a:t>
            </a:r>
            <a:endParaRPr>
              <a:latin typeface="Lora"/>
              <a:ea typeface="Lora"/>
              <a:cs typeface="Lora"/>
              <a:sym typeface="Lora"/>
            </a:endParaRPr>
          </a:p>
        </p:txBody>
      </p:sp>
      <p:pic>
        <p:nvPicPr>
          <p:cNvPr descr="Network switch of server cabinet with cables (Provided by Getty Images)" id="144" name="Google Shape;144;p27"/>
          <p:cNvPicPr preferRelativeResize="0"/>
          <p:nvPr/>
        </p:nvPicPr>
        <p:blipFill>
          <a:blip r:embed="rId3">
            <a:alphaModFix/>
          </a:blip>
          <a:stretch>
            <a:fillRect/>
          </a:stretch>
        </p:blipFill>
        <p:spPr>
          <a:xfrm>
            <a:off x="4872300" y="1455851"/>
            <a:ext cx="3348500" cy="22317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48" name="Shape 148"/>
        <p:cNvGrpSpPr/>
        <p:nvPr/>
      </p:nvGrpSpPr>
      <p:grpSpPr>
        <a:xfrm>
          <a:off x="0" y="0"/>
          <a:ext cx="0" cy="0"/>
          <a:chOff x="0" y="0"/>
          <a:chExt cx="0" cy="0"/>
        </a:xfrm>
      </p:grpSpPr>
      <p:sp>
        <p:nvSpPr>
          <p:cNvPr id="149" name="Google Shape;149;p2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libri"/>
              <a:buNone/>
            </a:pPr>
            <a:r>
              <a:rPr lang="en">
                <a:solidFill>
                  <a:srgbClr val="FFFFFF"/>
                </a:solidFill>
                <a:latin typeface="Lora"/>
                <a:ea typeface="Lora"/>
                <a:cs typeface="Lora"/>
                <a:sym typeface="Lora"/>
              </a:rPr>
              <a:t>DNS</a:t>
            </a:r>
            <a:endParaRPr>
              <a:latin typeface="Lora"/>
              <a:ea typeface="Lora"/>
              <a:cs typeface="Lora"/>
              <a:sym typeface="Lora"/>
            </a:endParaRPr>
          </a:p>
        </p:txBody>
      </p:sp>
      <p:sp>
        <p:nvSpPr>
          <p:cNvPr id="150" name="Google Shape;150;p28"/>
          <p:cNvSpPr txBox="1"/>
          <p:nvPr>
            <p:ph idx="1" type="body"/>
          </p:nvPr>
        </p:nvSpPr>
        <p:spPr>
          <a:xfrm>
            <a:off x="457200" y="1200150"/>
            <a:ext cx="4818300" cy="33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DCDCF0"/>
              </a:buClr>
              <a:buSzPts val="2000"/>
              <a:buFont typeface="Lora"/>
              <a:buChar char="•"/>
            </a:pPr>
            <a:r>
              <a:rPr lang="en" sz="2000">
                <a:solidFill>
                  <a:srgbClr val="DCDCF0"/>
                </a:solidFill>
                <a:latin typeface="Lora"/>
                <a:ea typeface="Lora"/>
                <a:cs typeface="Lora"/>
                <a:sym typeface="Lora"/>
              </a:rPr>
              <a:t>DNS translates domain names into IP addresses.</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Threats: DNS spoofing, cache poisoning, DoS attacks.</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Hardening: DNSSEC verification.</a:t>
            </a:r>
            <a:endParaRPr>
              <a:latin typeface="Lora"/>
              <a:ea typeface="Lora"/>
              <a:cs typeface="Lora"/>
              <a:sym typeface="Lora"/>
            </a:endParaRPr>
          </a:p>
        </p:txBody>
      </p:sp>
      <p:pic>
        <p:nvPicPr>
          <p:cNvPr descr="24108806 (Provided by Getty Images)" id="151" name="Google Shape;151;p28"/>
          <p:cNvPicPr preferRelativeResize="0"/>
          <p:nvPr/>
        </p:nvPicPr>
        <p:blipFill>
          <a:blip r:embed="rId3">
            <a:alphaModFix/>
          </a:blip>
          <a:stretch>
            <a:fillRect/>
          </a:stretch>
        </p:blipFill>
        <p:spPr>
          <a:xfrm>
            <a:off x="5275500" y="1384141"/>
            <a:ext cx="3563699" cy="23752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55" name="Shape 155"/>
        <p:cNvGrpSpPr/>
        <p:nvPr/>
      </p:nvGrpSpPr>
      <p:grpSpPr>
        <a:xfrm>
          <a:off x="0" y="0"/>
          <a:ext cx="0" cy="0"/>
          <a:chOff x="0" y="0"/>
          <a:chExt cx="0" cy="0"/>
        </a:xfrm>
      </p:grpSpPr>
      <p:sp>
        <p:nvSpPr>
          <p:cNvPr id="156" name="Google Shape;156;p29"/>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libri"/>
              <a:buNone/>
            </a:pPr>
            <a:r>
              <a:rPr lang="en">
                <a:solidFill>
                  <a:srgbClr val="FFFFFF"/>
                </a:solidFill>
                <a:latin typeface="Lora"/>
                <a:ea typeface="Lora"/>
                <a:cs typeface="Lora"/>
                <a:sym typeface="Lora"/>
              </a:rPr>
              <a:t>Routers</a:t>
            </a:r>
            <a:endParaRPr>
              <a:latin typeface="Lora"/>
              <a:ea typeface="Lora"/>
              <a:cs typeface="Lora"/>
              <a:sym typeface="Lora"/>
            </a:endParaRPr>
          </a:p>
        </p:txBody>
      </p:sp>
      <p:sp>
        <p:nvSpPr>
          <p:cNvPr id="157" name="Google Shape;157;p29"/>
          <p:cNvSpPr txBox="1"/>
          <p:nvPr>
            <p:ph idx="1" type="body"/>
          </p:nvPr>
        </p:nvSpPr>
        <p:spPr>
          <a:xfrm>
            <a:off x="457200" y="1200150"/>
            <a:ext cx="4473900" cy="33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DCDCF0"/>
              </a:buClr>
              <a:buSzPts val="2000"/>
              <a:buFont typeface="Lora"/>
              <a:buChar char="•"/>
            </a:pPr>
            <a:r>
              <a:rPr lang="en" sz="2000">
                <a:solidFill>
                  <a:srgbClr val="DCDCF0"/>
                </a:solidFill>
                <a:latin typeface="Lora"/>
                <a:ea typeface="Lora"/>
                <a:cs typeface="Lora"/>
                <a:sym typeface="Lora"/>
              </a:rPr>
              <a:t>Routers manage traffic between internal systems and the internet.</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Threats: Unauthorized access, route hijacking.</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Hardening: Strong ACLs, encrypted management (SSH).</a:t>
            </a:r>
            <a:endParaRPr>
              <a:latin typeface="Lora"/>
              <a:ea typeface="Lora"/>
              <a:cs typeface="Lora"/>
              <a:sym typeface="Lora"/>
            </a:endParaRPr>
          </a:p>
        </p:txBody>
      </p:sp>
      <p:pic>
        <p:nvPicPr>
          <p:cNvPr descr="Wi-Fi router thin line icon. Wireless network switch with antenna and signal coverage sign. Horeca vector design concept, outline style pictogram on white background, use for web and app. Eps 10. (Provided by Getty Images)" id="158" name="Google Shape;158;p29"/>
          <p:cNvPicPr preferRelativeResize="0"/>
          <p:nvPr/>
        </p:nvPicPr>
        <p:blipFill>
          <a:blip r:embed="rId3">
            <a:alphaModFix/>
          </a:blip>
          <a:stretch>
            <a:fillRect/>
          </a:stretch>
        </p:blipFill>
        <p:spPr>
          <a:xfrm>
            <a:off x="5930500" y="1193600"/>
            <a:ext cx="2756301" cy="27563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62" name="Shape 162"/>
        <p:cNvGrpSpPr/>
        <p:nvPr/>
      </p:nvGrpSpPr>
      <p:grpSpPr>
        <a:xfrm>
          <a:off x="0" y="0"/>
          <a:ext cx="0" cy="0"/>
          <a:chOff x="0" y="0"/>
          <a:chExt cx="0" cy="0"/>
        </a:xfrm>
      </p:grpSpPr>
      <p:sp>
        <p:nvSpPr>
          <p:cNvPr id="163" name="Google Shape;163;p30"/>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libri"/>
              <a:buNone/>
            </a:pPr>
            <a:r>
              <a:rPr lang="en">
                <a:solidFill>
                  <a:srgbClr val="FFFFFF"/>
                </a:solidFill>
                <a:latin typeface="Lora"/>
                <a:ea typeface="Lora"/>
                <a:cs typeface="Lora"/>
                <a:sym typeface="Lora"/>
              </a:rPr>
              <a:t>Firewalls and DMZ</a:t>
            </a:r>
            <a:endParaRPr>
              <a:latin typeface="Lora"/>
              <a:ea typeface="Lora"/>
              <a:cs typeface="Lora"/>
              <a:sym typeface="Lora"/>
            </a:endParaRPr>
          </a:p>
        </p:txBody>
      </p:sp>
      <p:sp>
        <p:nvSpPr>
          <p:cNvPr id="164" name="Google Shape;164;p30"/>
          <p:cNvSpPr txBox="1"/>
          <p:nvPr>
            <p:ph idx="1" type="body"/>
          </p:nvPr>
        </p:nvSpPr>
        <p:spPr>
          <a:xfrm>
            <a:off x="457200" y="1200150"/>
            <a:ext cx="4649700" cy="33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DCDCF0"/>
              </a:buClr>
              <a:buSzPts val="2000"/>
              <a:buFont typeface="Lora"/>
              <a:buChar char="•"/>
            </a:pPr>
            <a:r>
              <a:rPr lang="en" sz="2000">
                <a:solidFill>
                  <a:srgbClr val="DCDCF0"/>
                </a:solidFill>
                <a:latin typeface="Lora"/>
                <a:ea typeface="Lora"/>
                <a:cs typeface="Lora"/>
                <a:sym typeface="Lora"/>
              </a:rPr>
              <a:t>Firewalls filter inbound and outbound traffic.</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DMZ hosts public-facing systems like web servers.</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Hardening: Layered firewalls, strict rules, traffic monitoring.</a:t>
            </a:r>
            <a:endParaRPr>
              <a:latin typeface="Lora"/>
              <a:ea typeface="Lora"/>
              <a:cs typeface="Lora"/>
              <a:sym typeface="Lora"/>
            </a:endParaRPr>
          </a:p>
        </p:txBody>
      </p:sp>
      <p:pic>
        <p:nvPicPr>
          <p:cNvPr descr="Firewall icon design / vector graphics (Provided by Getty Images)" id="165" name="Google Shape;165;p30"/>
          <p:cNvPicPr preferRelativeResize="0"/>
          <p:nvPr/>
        </p:nvPicPr>
        <p:blipFill>
          <a:blip r:embed="rId3">
            <a:alphaModFix/>
          </a:blip>
          <a:stretch>
            <a:fillRect/>
          </a:stretch>
        </p:blipFill>
        <p:spPr>
          <a:xfrm>
            <a:off x="5916575" y="1512288"/>
            <a:ext cx="2770227" cy="27702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69" name="Shape 169"/>
        <p:cNvGrpSpPr/>
        <p:nvPr/>
      </p:nvGrpSpPr>
      <p:grpSpPr>
        <a:xfrm>
          <a:off x="0" y="0"/>
          <a:ext cx="0" cy="0"/>
          <a:chOff x="0" y="0"/>
          <a:chExt cx="0" cy="0"/>
        </a:xfrm>
      </p:grpSpPr>
      <p:sp>
        <p:nvSpPr>
          <p:cNvPr id="170" name="Google Shape;170;p3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libri"/>
              <a:buNone/>
            </a:pPr>
            <a:r>
              <a:rPr lang="en">
                <a:solidFill>
                  <a:srgbClr val="FFFFFF"/>
                </a:solidFill>
                <a:latin typeface="Lora"/>
                <a:ea typeface="Lora"/>
                <a:cs typeface="Lora"/>
                <a:sym typeface="Lora"/>
              </a:rPr>
              <a:t>DMZ Logical Diagram</a:t>
            </a:r>
            <a:endParaRPr>
              <a:latin typeface="Lora"/>
              <a:ea typeface="Lora"/>
              <a:cs typeface="Lora"/>
              <a:sym typeface="Lora"/>
            </a:endParaRPr>
          </a:p>
        </p:txBody>
      </p:sp>
      <p:sp>
        <p:nvSpPr>
          <p:cNvPr id="171" name="Google Shape;171;p31"/>
          <p:cNvSpPr txBox="1"/>
          <p:nvPr>
            <p:ph idx="1" type="body"/>
          </p:nvPr>
        </p:nvSpPr>
        <p:spPr>
          <a:xfrm>
            <a:off x="457200" y="1200150"/>
            <a:ext cx="3594600" cy="33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DCDCF0"/>
              </a:buClr>
              <a:buSzPts val="2200"/>
              <a:buFont typeface="Lora"/>
              <a:buChar char="•"/>
            </a:pPr>
            <a:r>
              <a:rPr lang="en" sz="2200">
                <a:solidFill>
                  <a:srgbClr val="DCDCF0"/>
                </a:solidFill>
                <a:latin typeface="Lora"/>
                <a:ea typeface="Lora"/>
                <a:cs typeface="Lora"/>
                <a:sym typeface="Lora"/>
              </a:rPr>
              <a:t>Internet → External Firewall → DMZ → Internal Firewall → Internal Network</a:t>
            </a:r>
            <a:endParaRPr>
              <a:latin typeface="Lora"/>
              <a:ea typeface="Lora"/>
              <a:cs typeface="Lora"/>
              <a:sym typeface="Lora"/>
            </a:endParaRPr>
          </a:p>
        </p:txBody>
      </p:sp>
      <p:pic>
        <p:nvPicPr>
          <p:cNvPr id="172" name="Google Shape;172;p31" title="DMZ Diagram.png"/>
          <p:cNvPicPr preferRelativeResize="0"/>
          <p:nvPr/>
        </p:nvPicPr>
        <p:blipFill>
          <a:blip r:embed="rId3">
            <a:alphaModFix/>
          </a:blip>
          <a:stretch>
            <a:fillRect/>
          </a:stretch>
        </p:blipFill>
        <p:spPr>
          <a:xfrm>
            <a:off x="4648200" y="1200149"/>
            <a:ext cx="4038600" cy="22717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3C"/>
        </a:solidFill>
      </p:bgPr>
    </p:bg>
    <p:spTree>
      <p:nvGrpSpPr>
        <p:cNvPr id="176" name="Shape 176"/>
        <p:cNvGrpSpPr/>
        <p:nvPr/>
      </p:nvGrpSpPr>
      <p:grpSpPr>
        <a:xfrm>
          <a:off x="0" y="0"/>
          <a:ext cx="0" cy="0"/>
          <a:chOff x="0" y="0"/>
          <a:chExt cx="0" cy="0"/>
        </a:xfrm>
      </p:grpSpPr>
      <p:sp>
        <p:nvSpPr>
          <p:cNvPr id="177" name="Google Shape;177;p3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libri"/>
              <a:buNone/>
            </a:pPr>
            <a:r>
              <a:rPr lang="en">
                <a:solidFill>
                  <a:srgbClr val="FFFFFF"/>
                </a:solidFill>
                <a:latin typeface="Lora"/>
                <a:ea typeface="Lora"/>
                <a:cs typeface="Lora"/>
                <a:sym typeface="Lora"/>
              </a:rPr>
              <a:t>Summary</a:t>
            </a:r>
            <a:endParaRPr>
              <a:latin typeface="Lora"/>
              <a:ea typeface="Lora"/>
              <a:cs typeface="Lora"/>
              <a:sym typeface="Lora"/>
            </a:endParaRPr>
          </a:p>
        </p:txBody>
      </p:sp>
      <p:sp>
        <p:nvSpPr>
          <p:cNvPr id="178" name="Google Shape;178;p32"/>
          <p:cNvSpPr txBox="1"/>
          <p:nvPr>
            <p:ph idx="1" type="body"/>
          </p:nvPr>
        </p:nvSpPr>
        <p:spPr>
          <a:xfrm>
            <a:off x="457200" y="1200150"/>
            <a:ext cx="4268700" cy="33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DCDCF0"/>
              </a:buClr>
              <a:buSzPts val="2000"/>
              <a:buFont typeface="Lora"/>
              <a:buChar char="•"/>
            </a:pPr>
            <a:r>
              <a:rPr lang="en" sz="2000">
                <a:solidFill>
                  <a:srgbClr val="DCDCF0"/>
                </a:solidFill>
                <a:latin typeface="Lora"/>
                <a:ea typeface="Lora"/>
                <a:cs typeface="Lora"/>
                <a:sym typeface="Lora"/>
              </a:rPr>
              <a:t>Secure network design protects customer data and business operations.</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Hardening each component reduces attack risk.</a:t>
            </a:r>
            <a:endParaRPr>
              <a:latin typeface="Lora"/>
              <a:ea typeface="Lora"/>
              <a:cs typeface="Lora"/>
              <a:sym typeface="Lora"/>
            </a:endParaRPr>
          </a:p>
          <a:p>
            <a:pPr indent="-342900" lvl="0" marL="342900" rtl="0" algn="l">
              <a:spcBef>
                <a:spcPts val="400"/>
              </a:spcBef>
              <a:spcAft>
                <a:spcPts val="0"/>
              </a:spcAft>
              <a:buClr>
                <a:srgbClr val="DCDCF0"/>
              </a:buClr>
              <a:buSzPts val="2000"/>
              <a:buFont typeface="Lora"/>
              <a:buChar char="•"/>
            </a:pPr>
            <a:r>
              <a:rPr lang="en" sz="2000">
                <a:solidFill>
                  <a:srgbClr val="DCDCF0"/>
                </a:solidFill>
                <a:latin typeface="Lora"/>
                <a:ea typeface="Lora"/>
                <a:cs typeface="Lora"/>
                <a:sym typeface="Lora"/>
              </a:rPr>
              <a:t>Security investments maintain reliability and trust.</a:t>
            </a:r>
            <a:endParaRPr>
              <a:latin typeface="Lora"/>
              <a:ea typeface="Lora"/>
              <a:cs typeface="Lora"/>
              <a:sym typeface="Lora"/>
            </a:endParaRPr>
          </a:p>
        </p:txBody>
      </p:sp>
      <p:pic>
        <p:nvPicPr>
          <p:cNvPr descr="Protected, shield protection, security icon (Provided by Getty Images)" id="179" name="Google Shape;179;p32"/>
          <p:cNvPicPr preferRelativeResize="0"/>
          <p:nvPr/>
        </p:nvPicPr>
        <p:blipFill>
          <a:blip r:embed="rId3">
            <a:alphaModFix/>
          </a:blip>
          <a:stretch>
            <a:fillRect/>
          </a:stretch>
        </p:blipFill>
        <p:spPr>
          <a:xfrm>
            <a:off x="6311075" y="1200151"/>
            <a:ext cx="2375726" cy="23757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